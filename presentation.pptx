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● 特別演習II — 問題定義プレゼンテーション　　次回授業用 ● 発表準備中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5544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なんとなく就活を、なくそう。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498079" cy="13716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500" b="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本来は全員が十分な自己理解で挑むべきにもかかわらず、やり方とゴールが分からないために、6割が苦戦したまま選考に進んでしまう。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02336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11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問題定義を見る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402336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ctr">
              <a:defRPr sz="12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データを見る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Trusted by data from　　　学情 n=275　　　マイナビ n=1268　　　doda n=317　　　白書 企業1182社　　　Synergy n=200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r">
              <a:lnSpc>
                <a:spcPct val="115000"/>
              </a:lnSpc>
              <a:defRPr sz="10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ジブン迷子. — Onda-inspired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(01) 理想と現状 —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あるべき姿と、いまの姿。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理想：十分な自己理解で挑む ／ 現状：手順もゴールも不明なまま10〜12月に突入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26517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2194560" cy="8229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4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60.7%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19456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大変1位が自己分析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2194560" cy="4572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学情 26卒 n=275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57400"/>
            <a:ext cx="26517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286000"/>
            <a:ext cx="2194560" cy="8229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4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35.2%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00400"/>
            <a:ext cx="219456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9月も自己分析に逆戻り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94760"/>
            <a:ext cx="2194560" cy="4572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マイナビ n=1268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057400"/>
            <a:ext cx="26517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286000"/>
            <a:ext cx="2194560" cy="8229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4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93.8%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3200400"/>
            <a:ext cx="219456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人柄を重視する企業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794760"/>
            <a:ext cx="2194560" cy="4572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白書 n=1182社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2057400"/>
            <a:ext cx="26517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19" y="2286000"/>
            <a:ext cx="2194560" cy="8229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4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3200400"/>
            <a:ext cx="219456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300" b="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入社後ギャップ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3794760"/>
            <a:ext cx="2194560" cy="4572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社会人 n=124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0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出典：各社公表資料（Webデータ集にリンク集約）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(02) データで見る現状 — 4つの事実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数字が語る、4つの事実。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65176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01 / 学情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219456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21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60.7% / 46.5%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194560" cy="10972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大変1位も良かった1位も</a:t>
            </a:r>
            <a:br/>
            <a:r>
              <a:rPr>
                <a:latin typeface="Meiryo"/>
                <a:ea typeface="Meiryo"/>
                <a:cs typeface="Meiryo"/>
              </a:rPr>
              <a:t>自己分析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0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出典はWeb参照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65176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8288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02 / マイナビ×doda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219456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21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35.2% / 42.6%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00400"/>
            <a:ext cx="2194560" cy="10972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秋も土台作りに戻る</a:t>
            </a:r>
            <a:br/>
            <a:r>
              <a:rPr>
                <a:latin typeface="Meiryo"/>
                <a:ea typeface="Meiryo"/>
                <a:cs typeface="Meiryo"/>
              </a:rPr>
              <a:t>9月・ES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0292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0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出典はWeb参照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600200"/>
            <a:ext cx="265176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8288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03 / Synergy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286000"/>
            <a:ext cx="219456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21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53.0% → 30.5%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00400"/>
            <a:ext cx="2194560" cy="10972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試すけど納得できない</a:t>
            </a:r>
            <a:br/>
            <a:r>
              <a:rPr>
                <a:latin typeface="Meiryo"/>
                <a:ea typeface="Meiryo"/>
                <a:cs typeface="Meiryo"/>
              </a:rPr>
              <a:t>信頼のみ30%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50292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0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出典はWeb参照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1600200"/>
            <a:ext cx="265176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18288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04 / 白書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2286000"/>
            <a:ext cx="219456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21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93.8% / 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3200400"/>
            <a:ext cx="2194560" cy="10972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企業は人柄を見ている</a:t>
            </a:r>
            <a:br/>
            <a:r>
              <a:rPr>
                <a:latin typeface="Meiryo"/>
                <a:ea typeface="Meiryo"/>
                <a:cs typeface="Meiryo"/>
              </a:rPr>
              <a:t>ギャップ40%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50292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0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出典はWeb参照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(03) グラフで見る証拠 — スライド貼付用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スライドそのまま、貼れる図。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akujo_tai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783080"/>
            <a:ext cx="4937760" cy="28215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59" y="5257800"/>
            <a:ext cx="493776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2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大変1位 自己分析60.7%（学情 n=275）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554480"/>
            <a:ext cx="5486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ynavi_activ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1783080"/>
            <a:ext cx="4937760" cy="28215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79" y="5257800"/>
            <a:ext cx="493776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2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9月も35.2%が逆戻り（マイナビ n=1268）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(04) 問題定義 —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だから、問題はこれだ。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642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11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14630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7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本来は全員が十分な自己理解で挑むべきにもかかわらず、やり方とゴールが分からないために、6割が苦戦したまま選考に進んでしまうことが問題である。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265176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01 理想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80560"/>
            <a:ext cx="2194560" cy="6400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7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強みを語れる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794760"/>
            <a:ext cx="265176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402336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02 現状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480560"/>
            <a:ext cx="2194560" cy="6400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7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手順不明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794760"/>
            <a:ext cx="265176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402336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03 ギャップ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4480560"/>
            <a:ext cx="2194560" cy="6400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7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自信なき選考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3794760"/>
            <a:ext cx="265176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19" y="402336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04 意義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4480560"/>
            <a:ext cx="2194560" cy="6400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7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三者損失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(05) なぜ解決すべきか &amp; 次回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放置は三者損失。次へ。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8640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4846320" cy="3657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● 企業93.8%が人柄重視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　言語化が評価に直結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● 成果実感1位も自己分析46.5%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● 社会人40%が入社後ギャップ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→ 学生・企業・社会の三者損失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00200"/>
            <a:ext cx="548640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19"/>
            <a:ext cx="4846320" cy="3657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まとめ：質とタイミングのギャップ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次回1：原因分析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次回2：既存支援の調査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締め：なんとなく就活をなくす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0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全数値・出典： https://taku010201040.github.io/jibun-mayogo-2026/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