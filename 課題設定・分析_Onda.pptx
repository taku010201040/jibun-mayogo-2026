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36576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l">
              <a:lnSpc>
                <a:spcPct val="115000"/>
              </a:lnSpc>
              <a:defRPr sz="1200" b="0">
                <a:solidFill>
                  <a:srgbClr val="6B6F6B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● 特別演習II — ゴール − 現状 ＝ 課題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37160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l">
              <a:lnSpc>
                <a:spcPct val="115000"/>
              </a:lnSpc>
              <a:defRPr sz="4400" b="1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ゴール − 現状 ＝ 課題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03120"/>
            <a:ext cx="7772400" cy="54864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l">
              <a:lnSpc>
                <a:spcPct val="115000"/>
              </a:lnSpc>
              <a:defRPr sz="1500" b="0">
                <a:solidFill>
                  <a:srgbClr val="333333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課題設定と課題分析を、図と表で一発理解。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108960"/>
            <a:ext cx="310896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5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246120"/>
            <a:ext cx="2743200" cy="1463039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400" b="1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ゴール（理想）</a:t>
            </a:r>
            <a:br/>
            <a:r>
              <a:rPr>
                <a:latin typeface="Meiryo"/>
                <a:ea typeface="Meiryo"/>
                <a:cs typeface="Meiryo"/>
              </a:rPr>
              <a:t>十分な自己理解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3320" y="3657600"/>
            <a:ext cx="502920" cy="64008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2800" b="1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3108960"/>
            <a:ext cx="310896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5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3246120"/>
            <a:ext cx="2743200" cy="1463039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400" b="1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現状</a:t>
            </a:r>
            <a:br/>
            <a:r>
              <a:rPr>
                <a:latin typeface="Meiryo"/>
                <a:ea typeface="Meiryo"/>
                <a:cs typeface="Meiryo"/>
              </a:rPr>
              <a:t>手順もゴールも不明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3657600"/>
            <a:ext cx="502920" cy="64008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2800" b="1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31089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3246120"/>
            <a:ext cx="3200400" cy="1463039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400" b="1">
                <a:solidFill>
                  <a:srgbClr val="B91C1C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課題</a:t>
            </a:r>
            <a:br/>
            <a:r>
              <a:rPr>
                <a:latin typeface="Meiryo"/>
                <a:ea typeface="Meiryo"/>
                <a:cs typeface="Meiryo"/>
              </a:rPr>
              <a:t>苦戦したまま選考へ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212080"/>
            <a:ext cx="11064240" cy="45720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200" b="0">
                <a:solidFill>
                  <a:srgbClr val="6B6F6B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発表の流れ：ゴール → 現状 → 課題設定 → 課題分析①原因 → ②影響 → まとめ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36576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l">
              <a:lnSpc>
                <a:spcPct val="115000"/>
              </a:lnSpc>
              <a:defRPr sz="1200" b="0">
                <a:solidFill>
                  <a:srgbClr val="6B6F6B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(01) ゴール（理想）— あるべき姿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l">
              <a:lnSpc>
                <a:spcPct val="115000"/>
              </a:lnSpc>
              <a:defRPr sz="3000" b="1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ゴールは3条件。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64240" cy="594360"/>
          </a:xfrm>
          <a:prstGeom prst="roundRect">
            <a:avLst>
              <a:gd name="adj" fmla="val 12000"/>
            </a:avLst>
          </a:prstGeom>
          <a:solidFill>
            <a:srgbClr val="111311"/>
          </a:solidFill>
          <a:ln w="15875">
            <a:solidFill>
              <a:srgbClr val="1113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2743200" cy="41148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l">
              <a:lnSpc>
                <a:spcPct val="115000"/>
              </a:lnSpc>
              <a:defRPr sz="1300" b="1">
                <a:solidFill>
                  <a:srgbClr val="FFFFFF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条件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645920"/>
            <a:ext cx="4206240" cy="41148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l">
              <a:lnSpc>
                <a:spcPct val="115000"/>
              </a:lnSpc>
              <a:defRPr sz="1300" b="1">
                <a:solidFill>
                  <a:srgbClr val="FFFFFF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1645920"/>
            <a:ext cx="3108960" cy="41148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l">
              <a:lnSpc>
                <a:spcPct val="115000"/>
              </a:lnSpc>
              <a:defRPr sz="1300" b="1">
                <a:solidFill>
                  <a:srgbClr val="FFFFFF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測り方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860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5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95728"/>
            <a:ext cx="2743200" cy="68580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l">
              <a:lnSpc>
                <a:spcPct val="115000"/>
              </a:lnSpc>
              <a:defRPr sz="1400" b="1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① 語れる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395728"/>
            <a:ext cx="4206240" cy="68580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l">
              <a:lnSpc>
                <a:spcPct val="115000"/>
              </a:lnSpc>
              <a:defRPr sz="1200" b="0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強みを経験と結びつけて話せる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395728"/>
            <a:ext cx="3108960" cy="68580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F6B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面接で1分説明できる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310128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5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419856"/>
            <a:ext cx="2743200" cy="68580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l">
              <a:lnSpc>
                <a:spcPct val="115000"/>
              </a:lnSpc>
              <a:defRPr sz="1400" b="1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② 軸がある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419856"/>
            <a:ext cx="4206240" cy="68580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l">
              <a:lnSpc>
                <a:spcPct val="115000"/>
              </a:lnSpc>
              <a:defRPr sz="1200" b="0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避けたい環境・譲れない軸を1つ言える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419856"/>
            <a:ext cx="3108960" cy="68580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F6B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企業選びの理由を言える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34256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5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4"/>
            <a:ext cx="2743200" cy="68580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l">
              <a:lnSpc>
                <a:spcPct val="115000"/>
              </a:lnSpc>
              <a:defRPr sz="1400" b="1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③ 結びつく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443984"/>
            <a:ext cx="4206240" cy="68580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l">
              <a:lnSpc>
                <a:spcPct val="115000"/>
              </a:lnSpc>
              <a:defRPr sz="1200" b="0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志望理由と過去経験の一貫性を示せる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4443984"/>
            <a:ext cx="3108960" cy="68580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F6B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ESに一貫性がある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5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577840"/>
            <a:ext cx="10698480" cy="50292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300" b="1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目標値：就活生全員が3条件を満たして秋を迎えること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36576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l">
              <a:lnSpc>
                <a:spcPct val="115000"/>
              </a:lnSpc>
              <a:defRPr sz="1200" b="0">
                <a:solidFill>
                  <a:srgbClr val="6B6F6B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(02) 現状 — データが示す実態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l">
              <a:lnSpc>
                <a:spcPct val="115000"/>
              </a:lnSpc>
              <a:defRPr sz="3000" b="1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現状は未達。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548640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5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4846320" cy="36576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>
              <a:lnSpc>
                <a:spcPct val="120000"/>
              </a:lnSpc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● 大変1位 自己分析 60.7%</a:t>
            </a:r>
          </a:p>
          <a:p>
            <a:pPr>
              <a:lnSpc>
                <a:spcPct val="120000"/>
              </a:lnSpc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　学情 26卒 n=275</a:t>
            </a:r>
          </a:p>
          <a:p>
            <a:pPr>
              <a:lnSpc>
                <a:spcPct val="120000"/>
              </a:lnSpc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● ES重要1位 42.6%</a:t>
            </a:r>
          </a:p>
          <a:p>
            <a:pPr>
              <a:lnSpc>
                <a:spcPct val="120000"/>
              </a:lnSpc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　doda n=317</a:t>
            </a:r>
          </a:p>
          <a:p>
            <a:pPr>
              <a:lnSpc>
                <a:spcPct val="120000"/>
              </a:lnSpc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● 9月も35.2%が逆戻り</a:t>
            </a:r>
          </a:p>
          <a:p>
            <a:pPr>
              <a:lnSpc>
                <a:spcPct val="120000"/>
              </a:lnSpc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　マイナビ n=1268</a:t>
            </a:r>
          </a:p>
          <a:p>
            <a:pPr>
              <a:lnSpc>
                <a:spcPct val="120000"/>
              </a:lnSpc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● 信頼30.5%・保留42.0%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39496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5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akujo_tai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029200" cy="28738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892040"/>
            <a:ext cx="5029200" cy="54864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200" b="1">
                <a:solidFill>
                  <a:srgbClr val="B91C1C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→ 6割が苦戦・3割超が手戻り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F6B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出典：Webデータ集にリンク集約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36576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l">
              <a:lnSpc>
                <a:spcPct val="115000"/>
              </a:lnSpc>
              <a:defRPr sz="1200" b="0">
                <a:solidFill>
                  <a:srgbClr val="6B6F6B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(03) 課題設定 — ゴール − 現状 ＝ 課題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l">
              <a:lnSpc>
                <a:spcPct val="115000"/>
              </a:lnSpc>
              <a:defRPr sz="3000" b="1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式で定義する。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3200400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5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19"/>
            <a:ext cx="2834640" cy="128016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300" b="1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ゴール</a:t>
            </a:r>
            <a:br/>
            <a:r>
              <a:rPr>
                <a:latin typeface="Meiryo"/>
                <a:ea typeface="Meiryo"/>
                <a:cs typeface="Meiryo"/>
              </a:rPr>
              <a:t>3条件を満たす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0" y="1874519"/>
            <a:ext cx="502920" cy="73152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2800" b="1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200400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5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45919"/>
            <a:ext cx="2834640" cy="128016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300" b="1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現状</a:t>
            </a:r>
            <a:br/>
            <a:r>
              <a:rPr>
                <a:latin typeface="Meiryo"/>
                <a:ea typeface="Meiryo"/>
                <a:cs typeface="Meiryo"/>
              </a:rPr>
              <a:t>60.7%が苦戦</a:t>
            </a:r>
            <a:br/>
            <a:r>
              <a:rPr>
                <a:latin typeface="Meiryo"/>
                <a:ea typeface="Meiryo"/>
                <a:cs typeface="Meiryo"/>
              </a:rPr>
              <a:t>35.2%が手戻り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874519"/>
            <a:ext cx="502920" cy="73152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2800" b="1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508760"/>
            <a:ext cx="3383280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645919"/>
            <a:ext cx="3017520" cy="128016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400" b="1">
                <a:solidFill>
                  <a:srgbClr val="B91C1C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課題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337560"/>
            <a:ext cx="1106424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566160"/>
            <a:ext cx="10149840" cy="137160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600" b="1">
                <a:solidFill>
                  <a:srgbClr val="B91C1C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やり方とゴールが分からないために、6割が苦戦したまま選考に進んでしまうこと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100" b="0">
                <a:solidFill>
                  <a:srgbClr val="6B6F6B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読み上げ：十分な自己理解で挑むべきなのに、手順もゴールもなく、自信なきまま始めるしかない。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36576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l">
              <a:lnSpc>
                <a:spcPct val="115000"/>
              </a:lnSpc>
              <a:defRPr sz="1200" b="0">
                <a:solidFill>
                  <a:srgbClr val="6B6F6B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(04) 課題分析① — なぜ起きるか（原因3分解）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l">
              <a:lnSpc>
                <a:spcPct val="115000"/>
              </a:lnSpc>
              <a:defRPr sz="3000" b="1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原因は3つ。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3566160" cy="3017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5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3108960" cy="45720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300" b="1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原因A：手順不明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3108960" cy="146304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200" b="0">
                <a:solidFill>
                  <a:srgbClr val="333333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53%は診断を試すも</a:t>
            </a:r>
            <a:br/>
            <a:r>
              <a:rPr>
                <a:latin typeface="Meiryo"/>
                <a:ea typeface="Meiryo"/>
                <a:cs typeface="Meiryo"/>
              </a:rPr>
              <a:t>職種と結びつかない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4617720"/>
            <a:ext cx="457200" cy="45720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400" b="1">
                <a:solidFill>
                  <a:srgbClr val="B91C1C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508760"/>
            <a:ext cx="3566160" cy="3017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5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79" y="1737360"/>
            <a:ext cx="3108960" cy="45720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300" b="1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原因B：ゴール不明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79" y="2377440"/>
            <a:ext cx="3108960" cy="146304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200" b="0">
                <a:solidFill>
                  <a:srgbClr val="333333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信頼できる30.5%</a:t>
            </a:r>
            <a:br/>
            <a:r>
              <a:rPr>
                <a:latin typeface="Meiryo"/>
                <a:ea typeface="Meiryo"/>
                <a:cs typeface="Meiryo"/>
              </a:rPr>
              <a:t>保留42.0%で判断停止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59" y="4617720"/>
            <a:ext cx="457200" cy="45720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400" b="1">
                <a:solidFill>
                  <a:srgbClr val="B91C1C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508760"/>
            <a:ext cx="3566160" cy="3017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5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19" y="1737360"/>
            <a:ext cx="3108960" cy="45720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300" b="1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原因C：時期遅れ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19" y="2377440"/>
            <a:ext cx="3108960" cy="146304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200" b="0">
                <a:solidFill>
                  <a:srgbClr val="333333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開始35%のみ</a:t>
            </a:r>
            <a:br/>
            <a:r>
              <a:rPr>
                <a:latin typeface="Meiryo"/>
                <a:ea typeface="Meiryo"/>
                <a:cs typeface="Meiryo"/>
              </a:rPr>
              <a:t>秋に35.2%が逆戻り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199" y="4617720"/>
            <a:ext cx="457200" cy="45720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400" b="1">
                <a:solidFill>
                  <a:srgbClr val="B91C1C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166360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111311"/>
          </a:solidFill>
          <a:ln w="15875">
            <a:solidFill>
              <a:srgbClr val="1113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303520"/>
            <a:ext cx="10515600" cy="59436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300" b="1">
                <a:solidFill>
                  <a:srgbClr val="FFFFFF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→ 土台ゼロで選考 → 落ちる → 戻る の往復で時間と自信を失う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36576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l">
              <a:lnSpc>
                <a:spcPct val="115000"/>
              </a:lnSpc>
              <a:defRPr sz="1200" b="0">
                <a:solidFill>
                  <a:srgbClr val="6B6F6B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(05) 課題分析② — 放置すると誰が損するか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l">
              <a:lnSpc>
                <a:spcPct val="115000"/>
              </a:lnSpc>
              <a:defRPr sz="3000" b="1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三者損失マトリクス。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11064240" cy="548640"/>
          </a:xfrm>
          <a:prstGeom prst="roundRect">
            <a:avLst>
              <a:gd name="adj" fmla="val 12000"/>
            </a:avLst>
          </a:prstGeom>
          <a:solidFill>
            <a:srgbClr val="111311"/>
          </a:solidFill>
          <a:ln w="15875">
            <a:solidFill>
              <a:srgbClr val="1113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36192"/>
            <a:ext cx="2926080" cy="41148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200" b="1">
                <a:solidFill>
                  <a:srgbClr val="FFFFFF"/>
                </a:solidFill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4023360" y="1536192"/>
            <a:ext cx="3383280" cy="41148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200" b="1">
                <a:solidFill>
                  <a:srgbClr val="FFFFFF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短期（選考期）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1536192"/>
            <a:ext cx="3383280" cy="41148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200" b="1">
                <a:solidFill>
                  <a:srgbClr val="FFFFFF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長期（入社後）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5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58568"/>
            <a:ext cx="2926080" cy="73152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300" b="1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学生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258568"/>
            <a:ext cx="3383280" cy="73152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100" b="0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自信なき応募・手戻り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58568"/>
            <a:ext cx="3383280" cy="73152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100" b="0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納得低下・ミスマッチ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27832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5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337560"/>
            <a:ext cx="2926080" cy="73152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300" b="1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企業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3337560"/>
            <a:ext cx="3383280" cy="73152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100" b="0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人柄93.8%を評価不能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3337560"/>
            <a:ext cx="3383280" cy="73152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100" b="0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採用・定着コスト増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06824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5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416552"/>
            <a:ext cx="2926080" cy="73152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300" b="1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社会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4416552"/>
            <a:ext cx="3383280" cy="73152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100" b="0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支援の手戻り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416552"/>
            <a:ext cx="3383280" cy="73152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100" b="0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早期離職・40%ギャップ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100" b="0">
                <a:solidFill>
                  <a:srgbClr val="6B6F6B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だから解決に社会的価値がある ／ 出典：白書93.8%・社会人40%・学情60.7%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36576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l">
              <a:lnSpc>
                <a:spcPct val="115000"/>
              </a:lnSpc>
              <a:defRPr sz="1200" b="0">
                <a:solidFill>
                  <a:srgbClr val="6B6F6B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(06) まとめ &amp; 次へ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l">
              <a:lnSpc>
                <a:spcPct val="115000"/>
              </a:lnSpc>
              <a:defRPr sz="3000" b="1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一文で持ち帰る。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64240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83080"/>
            <a:ext cx="10149840" cy="109728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700" b="1">
                <a:solidFill>
                  <a:srgbClr val="B91C1C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問題は「自己分析の質とタイミングのギャップ」である。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383280"/>
            <a:ext cx="54864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5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611880"/>
            <a:ext cx="4846320" cy="18288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>
              <a:lnSpc>
                <a:spcPct val="120000"/>
              </a:lnSpc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次回1：原因の深掘り</a:t>
            </a:r>
          </a:p>
          <a:p>
            <a:pPr>
              <a:lnSpc>
                <a:spcPct val="120000"/>
              </a:lnSpc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次回2：既存支援の調査</a:t>
            </a:r>
          </a:p>
          <a:p>
            <a:pPr>
              <a:lnSpc>
                <a:spcPct val="120000"/>
              </a:lnSpc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次回3：解決方向の検討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3383280"/>
            <a:ext cx="54864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5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611880"/>
            <a:ext cx="4937760" cy="182880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l">
              <a:lnSpc>
                <a:spcPct val="115000"/>
              </a:lnSpc>
              <a:defRPr sz="1400" b="1">
                <a:solidFill>
                  <a:srgbClr val="111311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発表の締め：</a:t>
            </a:r>
            <a:br/>
            <a:r>
              <a:rPr>
                <a:latin typeface="Meiryo"/>
                <a:ea typeface="Meiryo"/>
                <a:cs typeface="Meiryo"/>
              </a:rPr>
              <a:t>“なんとなく就活”をなくすために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</p:spPr>
        <p:txBody>
          <a:bodyPr wrap="square" lIns="0" rIns="0" anchor="t">
            <a:noAutofit/>
          </a:bodyPr>
          <a:lstStyle/>
          <a:p>
            <a:pPr algn="ctr">
              <a:lnSpc>
                <a:spcPct val="115000"/>
              </a:lnSpc>
              <a:defRPr sz="1000" b="0">
                <a:solidFill>
                  <a:srgbClr val="6B6F6B"/>
                </a:solidFill>
              </a:defRPr>
            </a:pPr>
            <a:r>
              <a:rPr>
                <a:latin typeface="Meiryo"/>
                <a:ea typeface="Meiryo"/>
                <a:cs typeface="Meiryo"/>
              </a:rPr>
              <a:t>資料： https://taku010201040.github.io/jibun-mayogo-2026/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