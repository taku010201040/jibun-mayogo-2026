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● 特別演習II — ゴール − 現状 ＝ 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3716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44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ゴール − 現状 ＝ 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7772400" cy="5486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500" b="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課題設定と課題分析を、図と表で一発理解。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108960"/>
            <a:ext cx="310896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2743200" cy="1463039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4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ゴール（理想）</a:t>
            </a:r>
            <a:br/>
            <a:r>
              <a:rPr>
                <a:latin typeface="Meiryo"/>
                <a:ea typeface="Meiryo"/>
                <a:cs typeface="Meiryo"/>
              </a:rPr>
              <a:t>十分な自己理解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3657600"/>
            <a:ext cx="502920" cy="6400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108960"/>
            <a:ext cx="310896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3246120"/>
            <a:ext cx="2743200" cy="1463039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4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現状</a:t>
            </a:r>
            <a:br/>
            <a:r>
              <a:rPr>
                <a:latin typeface="Meiryo"/>
                <a:ea typeface="Meiryo"/>
                <a:cs typeface="Meiryo"/>
              </a:rPr>
              <a:t>手順もゴールも不明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657600"/>
            <a:ext cx="502920" cy="6400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08960"/>
            <a:ext cx="356616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246120"/>
            <a:ext cx="3200400" cy="1463039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400" b="1">
                <a:solidFill>
                  <a:srgbClr val="B91C1C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課題</a:t>
            </a:r>
            <a:br/>
            <a:r>
              <a:rPr>
                <a:latin typeface="Meiryo"/>
                <a:ea typeface="Meiryo"/>
                <a:cs typeface="Meiryo"/>
              </a:rPr>
              <a:t>苦戦したまま選考へ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2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発表の流れ：ゴール → 現状 → 課題設定 → 5W1H確認 → 課題分析①原因 → ②影響 → まとめ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(01) ゴール（理想）— あるべき姿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30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ゴールは3条件。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594360"/>
          </a:xfrm>
          <a:prstGeom prst="roundRect">
            <a:avLst>
              <a:gd name="adj" fmla="val 12000"/>
            </a:avLst>
          </a:prstGeom>
          <a:solidFill>
            <a:srgbClr val="111311"/>
          </a:solidFill>
          <a:ln w="15875">
            <a:solidFill>
              <a:srgbClr val="111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743200" cy="4114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300" b="1">
                <a:solidFill>
                  <a:srgbClr val="FFFFFF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645920"/>
            <a:ext cx="4206240" cy="4114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300" b="1">
                <a:solidFill>
                  <a:srgbClr val="FFFFFF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645920"/>
            <a:ext cx="3108960" cy="4114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300" b="1">
                <a:solidFill>
                  <a:srgbClr val="FFFFFF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測り方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2743200" cy="6858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4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① 語れる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395728"/>
            <a:ext cx="4206240" cy="6858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強みを経験と結びつけて話せる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395728"/>
            <a:ext cx="3108960" cy="6858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面接で1分説明できる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10128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19856"/>
            <a:ext cx="2743200" cy="6858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4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② 軸がある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419856"/>
            <a:ext cx="4206240" cy="6858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避けたい環境・譲れない軸を1つ言える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19856"/>
            <a:ext cx="3108960" cy="6858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企業選びの理由を言える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34256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4"/>
            <a:ext cx="2743200" cy="6858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4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③ 結びつく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443984"/>
            <a:ext cx="4206240" cy="6858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志望理由と過去経験の一貫性を示せる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443984"/>
            <a:ext cx="3108960" cy="6858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ESに一貫性がある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10698480" cy="5029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目標値：就活生全員が3条件を満たして秋を迎えること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(02) 現状 — データが示す実態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30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現状は未達。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846320" cy="3657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● 大変1位 自己分析 60.7%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　学情 26卒 n=275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● ES重要1位 42.6%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　doda n=317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● 9月も35.2%が逆戻り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　マイナビ n=1268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● 信頼30.5%・保留42.0%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akujo_tai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029200" cy="28738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892040"/>
            <a:ext cx="5029200" cy="5486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200" b="1">
                <a:solidFill>
                  <a:srgbClr val="B91C1C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→ 6割が苦戦・3割超が手戻り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0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出典：Webデータ集にリンク集約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(03) 課題設定 — ゴール − 現状 ＝ 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30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式で定義する。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200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19"/>
            <a:ext cx="2834640" cy="12801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ゴール</a:t>
            </a:r>
            <a:br/>
            <a:r>
              <a:rPr>
                <a:latin typeface="Meiryo"/>
                <a:ea typeface="Meiryo"/>
                <a:cs typeface="Meiryo"/>
              </a:rPr>
              <a:t>3条件を満たす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874519"/>
            <a:ext cx="50292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200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19"/>
            <a:ext cx="2834640" cy="12801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現状</a:t>
            </a:r>
            <a:br/>
            <a:r>
              <a:rPr>
                <a:latin typeface="Meiryo"/>
                <a:ea typeface="Meiryo"/>
                <a:cs typeface="Meiryo"/>
              </a:rPr>
              <a:t>60.7%が苦戦</a:t>
            </a:r>
            <a:br/>
            <a:r>
              <a:rPr>
                <a:latin typeface="Meiryo"/>
                <a:ea typeface="Meiryo"/>
                <a:cs typeface="Meiryo"/>
              </a:rPr>
              <a:t>35.2%が手戻り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874519"/>
            <a:ext cx="50292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08760"/>
            <a:ext cx="338328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45919"/>
            <a:ext cx="3017520" cy="12801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400" b="1">
                <a:solidFill>
                  <a:srgbClr val="B91C1C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37560"/>
            <a:ext cx="110642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10149840" cy="13716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600" b="1">
                <a:solidFill>
                  <a:srgbClr val="B91C1C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やり方とゴールが分からないために、6割が苦戦したまま選考に進んでしまうこと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1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読み上げ：十分な自己理解で挑むべきなのに、手順もゴールもなく、自信なきまま始めるしかない。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(04) 課題設定補助 — 問題を5W1Hで精確にする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30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6問で裏取りする。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581912"/>
            <a:ext cx="4846320" cy="4114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400" b="1">
                <a:solidFill>
                  <a:srgbClr val="B91C1C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Who 誰が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29968"/>
            <a:ext cx="4846320" cy="5486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大学3年生（就活生本人）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9496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81912"/>
            <a:ext cx="4846320" cy="4114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400" b="1">
                <a:solidFill>
                  <a:srgbClr val="B91C1C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What 何が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29968"/>
            <a:ext cx="4846320" cy="5486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自己理解が不十分なままES・面接の選考に進んでしまう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61488"/>
            <a:ext cx="539496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880360"/>
            <a:ext cx="4846320" cy="4114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400" b="1">
                <a:solidFill>
                  <a:srgbClr val="B91C1C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When いつ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328416"/>
            <a:ext cx="4846320" cy="5486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3年の秋〜選考直前（開始は4-6月が35%のみ）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761488"/>
            <a:ext cx="539496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880360"/>
            <a:ext cx="4846320" cy="4114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400" b="1">
                <a:solidFill>
                  <a:srgbClr val="B91C1C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Where どこで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28416"/>
            <a:ext cx="4846320" cy="5486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大学・自宅。誰も教えてくれる人のいない独学の場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59935"/>
            <a:ext cx="539496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178807"/>
            <a:ext cx="4846320" cy="4114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400" b="1">
                <a:solidFill>
                  <a:srgbClr val="B91C1C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Why なぜ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626864"/>
            <a:ext cx="4846320" cy="5486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手順もゴールも誰にも共有されず、診断は結果で止まる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59935"/>
            <a:ext cx="539496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178807"/>
            <a:ext cx="4846320" cy="4114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400" b="1">
                <a:solidFill>
                  <a:srgbClr val="B91C1C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How どうやって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26864"/>
            <a:ext cx="4846320" cy="5486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無数のツール・記事を繰り返すも深掘りできず言語化に至らない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12000"/>
            </a:avLst>
          </a:prstGeom>
          <a:solidFill>
            <a:srgbClr val="111311"/>
          </a:solidFill>
          <a:ln w="15875">
            <a:solidFill>
              <a:srgbClr val="111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FFFFFF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Why と How の空白が本質 ＝「やり方とゴールが分からない」と突き止まる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(05) 課題分析① — なぜ起きるか（原因3分解）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30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原因は3つ。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56616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3108960" cy="4572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原因A：手順不明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108960" cy="14630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200" b="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53%は診断を試すも</a:t>
            </a:r>
            <a:br/>
            <a:r>
              <a:rPr>
                <a:latin typeface="Meiryo"/>
                <a:ea typeface="Meiryo"/>
                <a:cs typeface="Meiryo"/>
              </a:rPr>
              <a:t>職種と結びつかない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617720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400" b="1">
                <a:solidFill>
                  <a:srgbClr val="B91C1C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508760"/>
            <a:ext cx="356616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1737360"/>
            <a:ext cx="3108960" cy="4572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原因B：ゴール不明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377440"/>
            <a:ext cx="3108960" cy="14630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200" b="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信頼できる30.5%</a:t>
            </a:r>
            <a:br/>
            <a:r>
              <a:rPr>
                <a:latin typeface="Meiryo"/>
                <a:ea typeface="Meiryo"/>
                <a:cs typeface="Meiryo"/>
              </a:rPr>
              <a:t>保留42.0%で判断停止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4617720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400" b="1">
                <a:solidFill>
                  <a:srgbClr val="B91C1C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508760"/>
            <a:ext cx="356616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737360"/>
            <a:ext cx="3108960" cy="4572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原因C：時期遅れ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377440"/>
            <a:ext cx="3108960" cy="14630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200" b="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開始35%のみ</a:t>
            </a:r>
            <a:br/>
            <a:r>
              <a:rPr>
                <a:latin typeface="Meiryo"/>
                <a:ea typeface="Meiryo"/>
                <a:cs typeface="Meiryo"/>
              </a:rPr>
              <a:t>秋に35.2%が逆戻り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9" y="4617720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400" b="1">
                <a:solidFill>
                  <a:srgbClr val="B91C1C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111311"/>
          </a:solidFill>
          <a:ln w="15875">
            <a:solidFill>
              <a:srgbClr val="111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03520"/>
            <a:ext cx="10515600" cy="5943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FFFFFF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→ 土台ゼロで選考 → 落ちる → 戻る の往復で時間と自信を失う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(06) 課題分析② — 放置すると誰が損するか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30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三者損失マトリクス。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548640"/>
          </a:xfrm>
          <a:prstGeom prst="roundRect">
            <a:avLst>
              <a:gd name="adj" fmla="val 12000"/>
            </a:avLst>
          </a:prstGeom>
          <a:solidFill>
            <a:srgbClr val="111311"/>
          </a:solidFill>
          <a:ln w="15875">
            <a:solidFill>
              <a:srgbClr val="111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2926080" cy="4114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023360" y="1536192"/>
            <a:ext cx="3383280" cy="4114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200" b="1">
                <a:solidFill>
                  <a:srgbClr val="FFFFFF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短期（選考期）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536192"/>
            <a:ext cx="3383280" cy="4114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200" b="1">
                <a:solidFill>
                  <a:srgbClr val="FFFFFF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長期（入社後）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110642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292608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学生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258568"/>
            <a:ext cx="338328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100" b="0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自信なき応募・手戻り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258568"/>
            <a:ext cx="338328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100" b="0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納得低下・ミスマッチ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27832"/>
            <a:ext cx="110642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37560"/>
            <a:ext cx="292608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企業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337560"/>
            <a:ext cx="338328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100" b="0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人柄93.8%を評価不能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337560"/>
            <a:ext cx="338328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100" b="0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採用・定着コスト増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06824"/>
            <a:ext cx="110642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416552"/>
            <a:ext cx="292608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社会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416552"/>
            <a:ext cx="338328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100" b="0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支援の手戻り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16552"/>
            <a:ext cx="3383280" cy="73152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100" b="0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早期離職・40%ギャップ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1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だから解決に社会的価値がある ／ 出典：白書93.8%・社会人40%・学情60.7%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(07) まとめ &amp; 次へ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30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一文で持ち帰る。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700" b="1">
                <a:solidFill>
                  <a:srgbClr val="B91C1C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問題は「自己分析の質とタイミングのギャップ」である。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383280"/>
            <a:ext cx="54864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484632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次回1：原因の深掘り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次回2：既存支援の調査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次回3：解決方向の検討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383280"/>
            <a:ext cx="54864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611880"/>
            <a:ext cx="4937760" cy="182880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l">
              <a:lnSpc>
                <a:spcPct val="115000"/>
              </a:lnSpc>
              <a:defRPr sz="1400" b="1">
                <a:solidFill>
                  <a:srgbClr val="111311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発表の締め：</a:t>
            </a:r>
            <a:br/>
            <a:r>
              <a:rPr>
                <a:latin typeface="Meiryo"/>
                <a:ea typeface="Meiryo"/>
                <a:cs typeface="Meiryo"/>
              </a:rPr>
              <a:t>“なんとなく就活”をなくすために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noAutofit/>
          </a:bodyPr>
          <a:lstStyle/>
          <a:p>
            <a:pPr algn="ctr">
              <a:lnSpc>
                <a:spcPct val="115000"/>
              </a:lnSpc>
              <a:defRPr sz="1000" b="0">
                <a:solidFill>
                  <a:srgbClr val="6B6F6B"/>
                </a:solidFill>
              </a:defRPr>
            </a:pPr>
            <a:r>
              <a:rPr>
                <a:latin typeface="Meiryo"/>
                <a:ea typeface="Meiryo"/>
                <a:cs typeface="Meiryo"/>
              </a:rPr>
              <a:t>資料： https://taku010201040.github.io/jibun-mayogo-2026/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