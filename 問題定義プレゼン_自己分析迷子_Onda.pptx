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6F6B"/>
                </a:solidFill>
                <a:latin typeface="Yu Gothic"/>
              </a:defRPr>
            </a:pPr>
            <a:r>
              <a:t>● 特別演習II — 問題定義プレゼンテーション    次回授業用 ● 発表準備中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111311"/>
                </a:solidFill>
                <a:latin typeface="Yu Gothic"/>
              </a:defRPr>
            </a:pPr>
            <a:r>
              <a:t>なんとなく就活を、なくそう。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834640"/>
            <a:ext cx="6858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Yu Gothic"/>
              </a:defRPr>
            </a:pPr>
            <a:r>
              <a:t>本来は全員が十分な自己理解で挑むべきにもかかわらず、やり方とゴールが分からないために、6割が苦戦したまま選考に進んでしまう。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4297680"/>
            <a:ext cx="2194560" cy="594360"/>
          </a:xfrm>
          <a:prstGeom prst="roundRect">
            <a:avLst/>
          </a:prstGeom>
          <a:solidFill>
            <a:srgbClr val="1113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200" b="1">
                <a:solidFill>
                  <a:srgbClr val="FFFFFF"/>
                </a:solidFill>
                <a:latin typeface="Yu Gothic"/>
              </a:defRPr>
            </a:pPr>
            <a:r>
              <a:t>問題定義を見る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26080" y="4297680"/>
            <a:ext cx="1828800" cy="594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200" b="1">
                <a:solidFill>
                  <a:srgbClr val="111311"/>
                </a:solidFill>
                <a:latin typeface="Yu Gothic"/>
              </a:defRPr>
            </a:pPr>
            <a:r>
              <a:t>データを見る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212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6F6B"/>
                </a:solidFill>
                <a:latin typeface="Yu Gothic"/>
              </a:defRPr>
            </a:pPr>
            <a:r>
              <a:t>Trusted by data from　　学情 n=275　　マイナビ n=1268　　doda n=317　　白書 企業1182社　　Synergy n=200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126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6F6B"/>
                </a:solidFill>
                <a:latin typeface="Yu Gothic"/>
              </a:defRPr>
            </a:pPr>
            <a:r>
              <a:t>ジブン迷子. — Onda-inspired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6F6B"/>
                </a:solidFill>
                <a:latin typeface="Yu Gothic"/>
              </a:defRPr>
            </a:pPr>
            <a:r>
              <a:t>(01) 理想と現状 — The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11311"/>
                </a:solidFill>
                <a:latin typeface="Yu Gothic"/>
              </a:defRPr>
            </a:pPr>
            <a:r>
              <a:t>あるべき姿と、いまの姿。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理想：十分な自己理解で挑む ／ 現状：手順もゴールも不明なまま10〜12月に突入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94560"/>
            <a:ext cx="265176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11311"/>
                </a:solidFill>
                <a:latin typeface="Yu Gothic"/>
              </a:defRPr>
            </a:pPr>
            <a:r>
              <a:t>60.7%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91840"/>
            <a:ext cx="2286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Yu Gothic"/>
              </a:defRPr>
            </a:pPr>
            <a:r>
              <a:t>大変1位が自己分析</a:t>
            </a:r>
            <a:br/>
            <a:r>
              <a:t>学情 26卒 n=275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2194560"/>
            <a:ext cx="265176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11880" y="237744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11311"/>
                </a:solidFill>
                <a:latin typeface="Yu Gothic"/>
              </a:defRPr>
            </a:pPr>
            <a:r>
              <a:t>35.2%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3291840"/>
            <a:ext cx="2286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Yu Gothic"/>
              </a:defRPr>
            </a:pPr>
            <a:r>
              <a:t>9月も自己分析に逆戻り</a:t>
            </a:r>
            <a:br/>
            <a:r>
              <a:t>マイナビ n=1268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59" y="2194560"/>
            <a:ext cx="265176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37744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11311"/>
                </a:solidFill>
                <a:latin typeface="Yu Gothic"/>
              </a:defRPr>
            </a:pPr>
            <a:r>
              <a:t>93.8%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291840"/>
            <a:ext cx="2286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Yu Gothic"/>
              </a:defRPr>
            </a:pPr>
            <a:r>
              <a:t>人柄を重視する企業</a:t>
            </a:r>
            <a:br/>
            <a:r>
              <a:t>白書 n=1182社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89719" y="2194560"/>
            <a:ext cx="265176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72599" y="237744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11311"/>
                </a:solidFill>
                <a:latin typeface="Yu Gothic"/>
              </a:defRPr>
            </a:pPr>
            <a:r>
              <a:t>40%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72599" y="3291840"/>
            <a:ext cx="2286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Yu Gothic"/>
              </a:defRPr>
            </a:pPr>
            <a:r>
              <a:t>入社後ギャップ</a:t>
            </a:r>
            <a:br/>
            <a:r>
              <a:t>社会人 n=124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6F6B"/>
                </a:solidFill>
                <a:latin typeface="Yu Gothic"/>
              </a:defRPr>
            </a:pPr>
            <a:r>
              <a:t>出典：各社公表資料（Webデータ集にリンク集約）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6F6B"/>
                </a:solidFill>
                <a:latin typeface="Yu Gothic"/>
              </a:defRPr>
            </a:pPr>
            <a:r>
              <a:t>(02) データで見る現状 — 4つの事実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11311"/>
                </a:solidFill>
                <a:latin typeface="Yu Gothic"/>
              </a:defRPr>
            </a:pPr>
            <a:r>
              <a:t>数字が語る、4つの事実。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2651760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6F6B"/>
                </a:solidFill>
                <a:latin typeface="Yu Gothic"/>
              </a:defRPr>
            </a:pPr>
            <a:r>
              <a:t>01 / 学情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11311"/>
                </a:solidFill>
                <a:latin typeface="Yu Gothic"/>
              </a:defRPr>
            </a:pPr>
            <a:r>
              <a:t>60.7% / 46.5%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0040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Yu Gothic"/>
              </a:defRPr>
            </a:pPr>
            <a:r>
              <a:t>大変1位も良かった1位も自己分析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846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6F6B"/>
                </a:solidFill>
                <a:latin typeface="Yu Gothic"/>
              </a:defRPr>
            </a:pPr>
            <a:r>
              <a:t>出典はWeb参照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645920"/>
            <a:ext cx="2651760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11880" y="1828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6F6B"/>
                </a:solidFill>
                <a:latin typeface="Yu Gothic"/>
              </a:defRPr>
            </a:pPr>
            <a:r>
              <a:t>02 / マイナビ×doda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228600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11311"/>
                </a:solidFill>
                <a:latin typeface="Yu Gothic"/>
              </a:defRPr>
            </a:pPr>
            <a:r>
              <a:t>35.2% / 42.6%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320040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Yu Gothic"/>
              </a:defRPr>
            </a:pPr>
            <a:r>
              <a:t>秋も土台作りに戻る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4846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6F6B"/>
                </a:solidFill>
                <a:latin typeface="Yu Gothic"/>
              </a:defRPr>
            </a:pPr>
            <a:r>
              <a:t>出典はWeb参照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59" y="1645920"/>
            <a:ext cx="2651760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828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6F6B"/>
                </a:solidFill>
                <a:latin typeface="Yu Gothic"/>
              </a:defRPr>
            </a:pPr>
            <a:r>
              <a:t>03 / Synergy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28600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11311"/>
                </a:solidFill>
                <a:latin typeface="Yu Gothic"/>
              </a:defRPr>
            </a:pPr>
            <a:r>
              <a:t>53.0% → 30.5%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20040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Yu Gothic"/>
              </a:defRPr>
            </a:pPr>
            <a:r>
              <a:t>試すけど納得できない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4846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6F6B"/>
                </a:solidFill>
                <a:latin typeface="Yu Gothic"/>
              </a:defRPr>
            </a:pPr>
            <a:r>
              <a:t>出典はWeb参照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89719" y="1645920"/>
            <a:ext cx="2651760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72599" y="1828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6F6B"/>
                </a:solidFill>
                <a:latin typeface="Yu Gothic"/>
              </a:defRPr>
            </a:pPr>
            <a:r>
              <a:t>04 / 白書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72599" y="228600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11311"/>
                </a:solidFill>
                <a:latin typeface="Yu Gothic"/>
              </a:defRPr>
            </a:pPr>
            <a:r>
              <a:t>93.8% / 40%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72599" y="320040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Yu Gothic"/>
              </a:defRPr>
            </a:pPr>
            <a:r>
              <a:t>企業は人柄を見ている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72599" y="4846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6F6B"/>
                </a:solidFill>
                <a:latin typeface="Yu Gothic"/>
              </a:defRPr>
            </a:pPr>
            <a:r>
              <a:t>出典はWeb参照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6F6B"/>
                </a:solidFill>
                <a:latin typeface="Yu Gothic"/>
              </a:defRPr>
            </a:pPr>
            <a:r>
              <a:t>(03) グラフで見る証拠 — スライド貼付用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11311"/>
                </a:solidFill>
                <a:latin typeface="Yu Gothic"/>
              </a:defRPr>
            </a:pPr>
            <a:r>
              <a:t>スライドそのまま、貼れる図。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54864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gakujo_taih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737360"/>
            <a:ext cx="5120640" cy="3108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493776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11311"/>
                </a:solidFill>
                <a:latin typeface="Yu Gothic"/>
              </a:defRPr>
            </a:pPr>
            <a:r>
              <a:t>大変1位 自己分析60.7%（学情）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59" y="1554480"/>
            <a:ext cx="54864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mynavi_activiti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737360"/>
            <a:ext cx="5120640" cy="31089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92240" y="493776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11311"/>
                </a:solidFill>
                <a:latin typeface="Yu Gothic"/>
              </a:defRPr>
            </a:pPr>
            <a:r>
              <a:t>9月も35.2%が逆戻り（マイナビ）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6F6B"/>
                </a:solidFill>
                <a:latin typeface="Yu Gothic"/>
              </a:defRPr>
            </a:pPr>
            <a:r>
              <a:t>(04) 問題定義 — Process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11311"/>
                </a:solidFill>
                <a:latin typeface="Yu Gothic"/>
              </a:defRPr>
            </a:pPr>
            <a:r>
              <a:t>だから、問題はこれだ。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110642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113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B91C1C"/>
                </a:solidFill>
                <a:latin typeface="Yu Gothic"/>
              </a:defRPr>
            </a:pPr>
            <a:r>
              <a:t>本来は全員が十分な自己理解で挑むべきにもかかわらず、やり方とゴールが分からないために、6割が苦戦したまま選考に進んでしまうことが問題である。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4023360"/>
            <a:ext cx="265176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2062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6F6B"/>
                </a:solidFill>
                <a:latin typeface="Yu Gothic"/>
              </a:defRPr>
            </a:pPr>
            <a:r>
              <a:t>01 理想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66344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11311"/>
                </a:solidFill>
                <a:latin typeface="Yu Gothic"/>
              </a:defRPr>
            </a:pPr>
            <a:r>
              <a:t>強みを語れる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4023360"/>
            <a:ext cx="265176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11880" y="42062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6F6B"/>
                </a:solidFill>
                <a:latin typeface="Yu Gothic"/>
              </a:defRPr>
            </a:pPr>
            <a:r>
              <a:t>02 現状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466344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11311"/>
                </a:solidFill>
                <a:latin typeface="Yu Gothic"/>
              </a:defRPr>
            </a:pPr>
            <a:r>
              <a:t>手順不明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59" y="4023360"/>
            <a:ext cx="265176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42062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6F6B"/>
                </a:solidFill>
                <a:latin typeface="Yu Gothic"/>
              </a:defRPr>
            </a:pPr>
            <a:r>
              <a:t>03 ギャップ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466344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11311"/>
                </a:solidFill>
                <a:latin typeface="Yu Gothic"/>
              </a:defRPr>
            </a:pPr>
            <a:r>
              <a:t>自信なき選考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89719" y="4023360"/>
            <a:ext cx="265176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72599" y="42062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6F6B"/>
                </a:solidFill>
                <a:latin typeface="Yu Gothic"/>
              </a:defRPr>
            </a:pPr>
            <a:r>
              <a:t>04 意義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72599" y="466344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11311"/>
                </a:solidFill>
                <a:latin typeface="Yu Gothic"/>
              </a:defRPr>
            </a:pPr>
            <a:r>
              <a:t>三者損失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6F6B"/>
                </a:solidFill>
                <a:latin typeface="Yu Gothic"/>
              </a:defRPr>
            </a:pPr>
            <a:r>
              <a:t>(05) なぜ解決すべきか &amp; 次回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11311"/>
                </a:solidFill>
                <a:latin typeface="Yu Gothic"/>
              </a:defRPr>
            </a:pPr>
            <a:r>
              <a:t>放置は三者損失。次へ。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548640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● 企業93.8%が人柄重視＝言語化が評価に直結</a:t>
            </a:r>
            <a:br/>
            <a:r>
              <a:t>● 学生の成果実感1位も自己分析46.5%</a:t>
            </a:r>
            <a:br/>
            <a:r>
              <a:t>● 社会人40%が入社後ギャップ</a:t>
            </a:r>
            <a:br/>
            <a:r>
              <a:t>→ 学生・企業・社会の三者損失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645920"/>
            <a:ext cx="548640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まとめ：質とタイミングのギャップ</a:t>
            </a:r>
            <a:br/>
            <a:r>
              <a:t>次回1：原因分析（なぜ伝わらないか）</a:t>
            </a:r>
            <a:br/>
            <a:r>
              <a:t>次回2：既存支援の調査</a:t>
            </a:r>
            <a:br/>
            <a:r>
              <a:t>締め：なんとなく就活をなくすために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035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6F6B"/>
                </a:solidFill>
                <a:latin typeface="Yu Gothic"/>
              </a:defRPr>
            </a:pPr>
            <a:r>
              <a:t>全数値・出典： https://taku010201040.github.io/jibun-mayogo-2026/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