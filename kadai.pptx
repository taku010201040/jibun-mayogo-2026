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● 特別演習II — ゴール − 現状 ＝ 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111311"/>
                </a:solidFill>
                <a:latin typeface="Yu Gothic"/>
              </a:defRPr>
            </a:pPr>
            <a:r>
              <a:t>ゴール − 現状 ＝ 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Yu Gothic"/>
              </a:defRPr>
            </a:pPr>
            <a:r>
              <a:t>課題設定と課題分析を、図と表で一発理解。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3108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311"/>
                </a:solidFill>
                <a:latin typeface="Yu Gothic"/>
              </a:defRPr>
            </a:pPr>
            <a:r>
              <a:t>ゴール（理想）</a:t>
            </a:r>
            <a:br/>
            <a:r>
              <a:t>十分な自己理解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4297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311"/>
                </a:solidFill>
                <a:latin typeface="Yu Gothic"/>
              </a:defRPr>
            </a:pPr>
            <a:r>
              <a:t>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108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39319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311"/>
                </a:solidFill>
                <a:latin typeface="Yu Gothic"/>
              </a:defRPr>
            </a:pPr>
            <a:r>
              <a:t>現状</a:t>
            </a:r>
            <a:br/>
            <a:r>
              <a:t>手順もゴールも不明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97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311"/>
                </a:solidFill>
                <a:latin typeface="Yu Gothic"/>
              </a:defRPr>
            </a:pPr>
            <a:r>
              <a:t>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474720" cy="146304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931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Yu Gothic"/>
              </a:defRPr>
            </a:pPr>
            <a:r>
              <a:t>課題</a:t>
            </a:r>
            <a:br/>
            <a:r>
              <a:t>苦戦したまま選考へ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(01) ゴール（理想）— あるべき姿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11311"/>
                </a:solidFill>
                <a:latin typeface="Yu Gothic"/>
              </a:defRPr>
            </a:pPr>
            <a:r>
              <a:t>ゴールは3条件。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640080"/>
          </a:xfrm>
          <a:prstGeom prst="roundRect">
            <a:avLst/>
          </a:prstGeom>
          <a:solidFill>
            <a:srgbClr val="111311"/>
          </a:solidFill>
          <a:ln w="12700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測り方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① 語れる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4688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311"/>
                </a:solidFill>
                <a:latin typeface="Yu Gothic"/>
              </a:defRPr>
            </a:pPr>
            <a:r>
              <a:t>強みを経験と結びつけて話せる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面接で1分説明できる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② 軸がある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290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311"/>
                </a:solidFill>
                <a:latin typeface="Yu Gothic"/>
              </a:defRPr>
            </a:pPr>
            <a:r>
              <a:t>避けたい環境・譲れない軸を1つ言える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企業選びの理由を言える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10642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③ 結びつく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389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311"/>
                </a:solidFill>
                <a:latin typeface="Yu Gothic"/>
              </a:defRPr>
            </a:pPr>
            <a:r>
              <a:t>志望理由と過去経験の一貫性を示せる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ESに一貫性がある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1208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03520"/>
            <a:ext cx="107899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目標値：就活生全員が3条件を満たして秋を迎えること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(02) 現状 — データが示す実態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11311"/>
                </a:solidFill>
                <a:latin typeface="Yu Gothic"/>
              </a:defRPr>
            </a:pPr>
            <a:r>
              <a:t>現状は未達。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669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311"/>
                </a:solidFill>
                <a:latin typeface="Yu Gothic"/>
              </a:defRPr>
            </a:pPr>
            <a:r>
              <a:t>● 大変1位 自己分析 60.7%（学情 n=275）</a:t>
            </a:r>
            <a:br/>
            <a:r>
              <a:t>● ES重要1位 自己分析 42.6%（doda n=317）</a:t>
            </a:r>
            <a:br/>
            <a:r>
              <a:t>● 9月も35.2%が自己分析に逆戻り（マイナビ n=1268）</a:t>
            </a:r>
            <a:br/>
            <a:r>
              <a:t>● 信頼できる30.5%・保留42.0%（Synergy n=200）</a:t>
            </a:r>
            <a:br/>
            <a:r>
              <a:t>● 開始3年4-6月は35%のみ（doda n=239）</a:t>
            </a:r>
          </a:p>
        </p:txBody>
      </p:sp>
      <p:pic>
        <p:nvPicPr>
          <p:cNvPr id="6" name="Picture 5" descr="gakujo_tai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12064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46634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91C1C"/>
                </a:solidFill>
                <a:latin typeface="Yu Gothic"/>
              </a:defRPr>
            </a:pPr>
            <a:r>
              <a:t>→ 6割が苦戦・3割超が秋に手戻り＝土台未完成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出典：Webデータ集にリンク集約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(03) 課題設定 — ゴール − 現状 ＝ 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11311"/>
                </a:solidFill>
                <a:latin typeface="Yu Gothic"/>
              </a:defRPr>
            </a:pPr>
            <a:r>
              <a:t>式で定義する。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1311"/>
                </a:solidFill>
                <a:latin typeface="Yu Gothic"/>
              </a:defRPr>
            </a:pPr>
            <a:r>
              <a:t>ゴール</a:t>
            </a:r>
            <a:br/>
            <a:r>
              <a:t>3条件を満たす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311"/>
                </a:solidFill>
                <a:latin typeface="Yu Gothic"/>
              </a:defRPr>
            </a:pPr>
            <a:r>
              <a:t>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459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現状</a:t>
            </a:r>
            <a:br/>
            <a:r>
              <a:t>60.7%が苦戦</a:t>
            </a:r>
            <a:br/>
            <a:r>
              <a:t>35.2%が手戻り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11311"/>
                </a:solidFill>
                <a:latin typeface="Yu Gothic"/>
              </a:defRPr>
            </a:pPr>
            <a:r>
              <a:t>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554480"/>
            <a:ext cx="3200400" cy="164592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645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91C1C"/>
                </a:solidFill>
                <a:latin typeface="Yu Gothic"/>
              </a:defRPr>
            </a:pPr>
            <a:r>
              <a:t>課題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1064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91C1C"/>
                </a:solidFill>
                <a:latin typeface="Yu Gothic"/>
              </a:defRPr>
            </a:pPr>
            <a:r>
              <a:t>やり方とゴールが分からないために、6割が苦戦したまま選考に進んでしまうこと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読み上げ：十分な自己理解で挑むべきなのに、手順もゴールもなく、自信なきまま始めるしかない。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(04) 課題分析① — なぜ起きるか（原因3分解）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11311"/>
                </a:solidFill>
                <a:latin typeface="Yu Gothic"/>
              </a:defRPr>
            </a:pPr>
            <a:r>
              <a:t>原因は3つ。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原因A：手順不明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53%は診断を試すも</a:t>
            </a:r>
            <a:br/>
            <a:r>
              <a:t>職種と結びつかない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754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Yu Gothic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554480"/>
            <a:ext cx="3566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原因B：ゴール不明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4688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信頼できる30.5%</a:t>
            </a:r>
            <a:br/>
            <a:r>
              <a:t>保留42.0%で判断停止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19" y="4754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Yu Gothic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554480"/>
            <a:ext cx="3566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原因C：時期遅れ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46888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Yu Gothic"/>
              </a:defRPr>
            </a:pPr>
            <a:r>
              <a:t>開始35%のみ</a:t>
            </a:r>
            <a:br/>
            <a:r>
              <a:t>秋に35.2%が逆戻り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59" y="4754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91C1C"/>
                </a:solidFill>
                <a:latin typeface="Yu Gothic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111311"/>
          </a:solidFill>
          <a:ln w="12700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→ 土台ゼロで選考 → 落ちる → 戻る の往復で時間と自信を失う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(05) 課題分析② — 放置すると誰が損するか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11311"/>
                </a:solidFill>
                <a:latin typeface="Yu Gothic"/>
              </a:defRPr>
            </a:pPr>
            <a:r>
              <a:t>三者損失マトリクス。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640080"/>
          </a:xfrm>
          <a:prstGeom prst="roundRect">
            <a:avLst/>
          </a:prstGeom>
          <a:solidFill>
            <a:srgbClr val="111311"/>
          </a:solidFill>
          <a:ln w="12700">
            <a:solidFill>
              <a:srgbClr val="111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48056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短期（選考期）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長期（入社後）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11311"/>
                </a:solidFill>
                <a:latin typeface="Yu Gothic"/>
              </a:defRPr>
            </a:pPr>
            <a:r>
              <a:t>自信なき応募・手戻り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14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11311"/>
                </a:solidFill>
                <a:latin typeface="Yu Gothic"/>
              </a:defRPr>
            </a:pPr>
            <a:r>
              <a:t>納得低下・ミスマッチ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企業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66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11311"/>
                </a:solidFill>
                <a:latin typeface="Yu Gothic"/>
              </a:defRPr>
            </a:pPr>
            <a:r>
              <a:t>人柄93.8%を評価不能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66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11311"/>
                </a:solidFill>
                <a:latin typeface="Yu Gothic"/>
              </a:defRPr>
            </a:pPr>
            <a:r>
              <a:t>採用・定着コスト増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8056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社会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11311"/>
                </a:solidFill>
                <a:latin typeface="Yu Gothic"/>
              </a:defRPr>
            </a:pPr>
            <a:r>
              <a:t>支援の手戻り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11311"/>
                </a:solidFill>
                <a:latin typeface="Yu Gothic"/>
              </a:defRPr>
            </a:pPr>
            <a:r>
              <a:t>早期離職・40%ギャップ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だから解決に社会的価値がある ／ 出典：白書93.8%・社会人40%・学情60.7%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F6B"/>
                </a:solidFill>
                <a:latin typeface="Yu Gothic"/>
              </a:defRPr>
            </a:pPr>
            <a:r>
              <a:t>(06) まとめ &amp; 次へ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11311"/>
                </a:solidFill>
                <a:latin typeface="Yu Gothic"/>
              </a:defRPr>
            </a:pPr>
            <a:r>
              <a:t>一文で持ち帰る。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642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91C1C"/>
                </a:solidFill>
                <a:latin typeface="Yu Gothic"/>
              </a:defRPr>
            </a:pPr>
            <a:r>
              <a:t>問題は「自己分析の質とタイミングのギャップ」である。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11311"/>
                </a:solidFill>
                <a:latin typeface="Yu Gothic"/>
              </a:defRPr>
            </a:pPr>
            <a:r>
              <a:t>次回1：原因の深掘り</a:t>
            </a:r>
            <a:br/>
            <a:r>
              <a:t>次回2：既存支援の調査</a:t>
            </a:r>
            <a:br/>
            <a:r>
              <a:t>次回3：解決方向の検討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6576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311"/>
                </a:solidFill>
                <a:latin typeface="Yu Gothic"/>
              </a:defRPr>
            </a:pPr>
            <a:r>
              <a:t>発表の締め：</a:t>
            </a:r>
            <a:br/>
            <a:r>
              <a:t>“なんとなく就活”をなくすために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F6B"/>
                </a:solidFill>
                <a:latin typeface="Yu Gothic"/>
              </a:defRPr>
            </a:pPr>
            <a:r>
              <a:t>資料： https://taku010201040.github.io/jibun-mayogo-2026/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